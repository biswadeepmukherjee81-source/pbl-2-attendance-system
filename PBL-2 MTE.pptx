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2" r:id="rId9"/>
    <p:sldId id="261" r:id="rId10"/>
    <p:sldId id="270" r:id="rId11"/>
    <p:sldId id="271" r:id="rId12"/>
    <p:sldId id="272" r:id="rId13"/>
    <p:sldId id="266" r:id="rId14"/>
    <p:sldId id="273" r:id="rId15"/>
    <p:sldId id="267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6:25:3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6:25:3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6:25:3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6:25:3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8322" y="1258784"/>
            <a:ext cx="12290322" cy="2461639"/>
          </a:xfrm>
        </p:spPr>
        <p:txBody>
          <a:bodyPr>
            <a:normAutofit/>
          </a:bodyPr>
          <a:lstStyle/>
          <a:p>
            <a:r>
              <a:rPr lang="en-US" sz="2800" dirty="0"/>
              <a:t>Blockchain-Based Attendance Management System with Performance Analytics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 fontScale="92500"/>
          </a:bodyPr>
          <a:lstStyle/>
          <a:p>
            <a:r>
              <a:rPr lang="en-IN" dirty="0">
                <a:latin typeface="Comic Mono" pitchFamily="1" charset="0"/>
              </a:rPr>
              <a:t>Submitted By:</a:t>
            </a:r>
            <a:br>
              <a:rPr lang="en-IN" dirty="0">
                <a:latin typeface="Comic Mono" pitchFamily="1" charset="0"/>
              </a:rPr>
            </a:br>
            <a:r>
              <a:rPr lang="en-IN" dirty="0">
                <a:latin typeface="Comic Mono" pitchFamily="1" charset="0"/>
              </a:rPr>
              <a:t>Bishwadeep Mukherjee</a:t>
            </a:r>
            <a:br>
              <a:rPr lang="en-IN" dirty="0">
                <a:latin typeface="Comic Mono" pitchFamily="1" charset="0"/>
              </a:rPr>
            </a:br>
            <a:r>
              <a:rPr lang="en-IN" dirty="0">
                <a:latin typeface="Comic Mono" pitchFamily="1" charset="0"/>
              </a:rPr>
              <a:t>Reg-No: 2427030580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334865" y="4890977"/>
            <a:ext cx="4064860" cy="1529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Comic Mono" pitchFamily="1" charset="0"/>
              </a:rPr>
              <a:t>Supervised By:</a:t>
            </a:r>
            <a:br>
              <a:rPr lang="en-IN" dirty="0">
                <a:latin typeface="Comic Mono" pitchFamily="1" charset="0"/>
              </a:rPr>
            </a:br>
            <a:r>
              <a:rPr lang="en-IN" sz="2000" dirty="0" err="1">
                <a:latin typeface="Comic Mono" pitchFamily="1" charset="0"/>
              </a:rPr>
              <a:t>Dr.Satpal</a:t>
            </a:r>
            <a:r>
              <a:rPr lang="en-IN" sz="2000" dirty="0">
                <a:latin typeface="Comic Mono" pitchFamily="1" charset="0"/>
              </a:rPr>
              <a:t> Singh Kushwaha</a:t>
            </a:r>
            <a:endParaRPr lang="en-IN" sz="2000" dirty="0"/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530656"/>
            <a:ext cx="10515600" cy="48701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Attendance management in educational institutions is still largely centralized and manually controlled.</a:t>
            </a:r>
          </a:p>
          <a:p>
            <a:pPr marL="0" indent="0">
              <a:buNone/>
            </a:pPr>
            <a:r>
              <a:rPr lang="en-US" sz="2400" dirty="0"/>
              <a:t>Traditional systems suffer from:</a:t>
            </a:r>
          </a:p>
          <a:p>
            <a:pPr marL="0" indent="0">
              <a:buNone/>
            </a:pPr>
            <a:r>
              <a:rPr lang="en-US" sz="2400" dirty="0"/>
              <a:t>• Proxy attendance</a:t>
            </a:r>
          </a:p>
          <a:p>
            <a:pPr marL="0" indent="0">
              <a:buNone/>
            </a:pPr>
            <a:r>
              <a:rPr lang="en-US" sz="2400" dirty="0"/>
              <a:t>• Record tampering</a:t>
            </a:r>
          </a:p>
          <a:p>
            <a:pPr marL="0" indent="0">
              <a:buNone/>
            </a:pPr>
            <a:r>
              <a:rPr lang="en-US" sz="2400" dirty="0"/>
              <a:t>• Lack of transparency</a:t>
            </a:r>
          </a:p>
          <a:p>
            <a:pPr marL="0" indent="0">
              <a:buNone/>
            </a:pPr>
            <a:r>
              <a:rPr lang="en-US" sz="2400" dirty="0"/>
              <a:t>• Manual errors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Blockchain technology provides decentralized, tamper-proof record keeping using smart contracts.</a:t>
            </a:r>
          </a:p>
          <a:p>
            <a:pPr marL="0" indent="0">
              <a:buNone/>
            </a:pPr>
            <a:r>
              <a:rPr lang="en-US" sz="2400" dirty="0"/>
              <a:t>This project focuses on designing a blockchain-based attendance recording system.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93B0-DC56-664E-DEDF-9B3257C0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4B43-0D1D-21A3-7541-2A84D438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34567-2ACE-FEBB-0E95-B6DC7802B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530656"/>
            <a:ext cx="10515600" cy="48701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In PBL-1, the system stored attendance securely using a smart contract.</a:t>
            </a:r>
          </a:p>
          <a:p>
            <a:pPr marL="0" indent="0">
              <a:buNone/>
            </a:pPr>
            <a:r>
              <a:rPr lang="en-US" sz="3200" dirty="0"/>
              <a:t>In PBL-2, the system is extended by:</a:t>
            </a:r>
          </a:p>
          <a:p>
            <a:pPr marL="0" indent="0">
              <a:buNone/>
            </a:pPr>
            <a:r>
              <a:rPr lang="en-US" sz="3200" dirty="0"/>
              <a:t>• Adding attendance analytics</a:t>
            </a:r>
          </a:p>
          <a:p>
            <a:pPr marL="0" indent="0">
              <a:buNone/>
            </a:pPr>
            <a:r>
              <a:rPr lang="en-US" sz="3200" dirty="0"/>
              <a:t>• Structured dataset validation</a:t>
            </a:r>
          </a:p>
          <a:p>
            <a:pPr marL="0" indent="0">
              <a:buNone/>
            </a:pPr>
            <a:r>
              <a:rPr lang="en-US" sz="3200" dirty="0"/>
              <a:t>• Performance tracking mechanism</a:t>
            </a:r>
          </a:p>
          <a:p>
            <a:pPr marL="0" indent="0">
              <a:buNone/>
            </a:pPr>
            <a:r>
              <a:rPr lang="en-US" sz="3200" dirty="0"/>
              <a:t>• Scalability planning</a:t>
            </a:r>
          </a:p>
          <a:p>
            <a:pPr marL="0" indent="0">
              <a:buNone/>
            </a:pPr>
            <a:r>
              <a:rPr lang="en-US" sz="3200" dirty="0"/>
              <a:t>This improves the system from storage-only to decision-support system.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4809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4" y="-195314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34" y="1307690"/>
            <a:ext cx="11983065" cy="55503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Existing Approaches:</a:t>
            </a:r>
          </a:p>
          <a:p>
            <a:pPr marL="0" indent="0">
              <a:buNone/>
            </a:pPr>
            <a:r>
              <a:rPr lang="en-IN" dirty="0"/>
              <a:t>1. Traditional Database Systems</a:t>
            </a:r>
          </a:p>
          <a:p>
            <a:pPr marL="0" indent="0">
              <a:buNone/>
            </a:pPr>
            <a:r>
              <a:rPr lang="en-IN" dirty="0"/>
              <a:t>        • Centralized</a:t>
            </a:r>
          </a:p>
          <a:p>
            <a:pPr marL="0" indent="0">
              <a:buNone/>
            </a:pPr>
            <a:r>
              <a:rPr lang="en-IN" dirty="0"/>
              <a:t>        • Vulnerable to tampering</a:t>
            </a:r>
          </a:p>
          <a:p>
            <a:pPr marL="0" indent="0">
              <a:buNone/>
            </a:pPr>
            <a:r>
              <a:rPr lang="en-IN" dirty="0"/>
              <a:t>2. Biometric Attendance Systems</a:t>
            </a:r>
          </a:p>
          <a:p>
            <a:pPr marL="0" indent="0">
              <a:buNone/>
            </a:pPr>
            <a:r>
              <a:rPr lang="en-IN" dirty="0"/>
              <a:t>        • Hardware dependent</a:t>
            </a:r>
          </a:p>
          <a:p>
            <a:pPr marL="0" indent="0">
              <a:buNone/>
            </a:pPr>
            <a:r>
              <a:rPr lang="en-IN" dirty="0"/>
              <a:t>        • Expensive deployment</a:t>
            </a:r>
          </a:p>
          <a:p>
            <a:pPr marL="0" indent="0">
              <a:buNone/>
            </a:pPr>
            <a:r>
              <a:rPr lang="en-IN" dirty="0"/>
              <a:t>3. RFID-Based Systems</a:t>
            </a:r>
          </a:p>
          <a:p>
            <a:pPr marL="0" indent="0">
              <a:buNone/>
            </a:pPr>
            <a:r>
              <a:rPr lang="en-IN" dirty="0"/>
              <a:t>        • Limited scalability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Blockchain-based systems provide immutability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424F-5843-FE4C-5639-0B422CD4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0F42-0F56-4AE9-E44B-34D0F570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4" y="-195314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B5D4-6712-6ECA-3A0E-825CE85E8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67" y="1052051"/>
            <a:ext cx="11983065" cy="5550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Limitations in Existing Blockchain Attendance Systems: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• Only storage without analytics</a:t>
            </a:r>
          </a:p>
          <a:p>
            <a:pPr marL="0" indent="0">
              <a:buNone/>
            </a:pPr>
            <a:r>
              <a:rPr lang="en-US" sz="3600" dirty="0"/>
              <a:t>• No performance evaluation layer</a:t>
            </a:r>
          </a:p>
          <a:p>
            <a:pPr marL="0" indent="0">
              <a:buNone/>
            </a:pPr>
            <a:r>
              <a:rPr lang="en-US" sz="3600" dirty="0"/>
              <a:t>• Lack of scalability testing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This project extends attendance storage with analytical computation and structured evaluation.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2519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55" y="212141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design and enhance a secure blockchain-based attendance </a:t>
            </a:r>
          </a:p>
          <a:p>
            <a:pPr marL="0" indent="0">
              <a:buNone/>
            </a:pPr>
            <a:r>
              <a:rPr lang="en-US" dirty="0"/>
              <a:t>management system that not only stores attendance records </a:t>
            </a:r>
          </a:p>
          <a:p>
            <a:pPr marL="0" indent="0">
              <a:buNone/>
            </a:pPr>
            <a:r>
              <a:rPr lang="en-US" dirty="0"/>
              <a:t>immutably but also provides analytical insights for performance </a:t>
            </a:r>
          </a:p>
          <a:p>
            <a:pPr marL="0" indent="0">
              <a:buNone/>
            </a:pPr>
            <a:r>
              <a:rPr lang="en-US" dirty="0"/>
              <a:t>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To develop a smart contract for secure attendance recording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To extend the system with attendance analytics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To evaluate structured multi-subject dataset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To propose scalable deployment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5" y="-188196"/>
            <a:ext cx="10515600" cy="1325563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1137367"/>
            <a:ext cx="11562734" cy="5538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System Architecture Overview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• The system is designed using a decentralized architecture.</a:t>
            </a:r>
          </a:p>
          <a:p>
            <a:pPr marL="0" indent="0">
              <a:buNone/>
            </a:pPr>
            <a:r>
              <a:rPr lang="en-US" sz="3200" dirty="0"/>
              <a:t>• Attendance data is stored using a Solidity smart contract.</a:t>
            </a:r>
          </a:p>
          <a:p>
            <a:pPr marL="0" indent="0">
              <a:buNone/>
            </a:pPr>
            <a:r>
              <a:rPr lang="en-US" sz="3200" dirty="0"/>
              <a:t>• The smart contract acts as the core logic layer.</a:t>
            </a:r>
          </a:p>
          <a:p>
            <a:pPr marL="0" indent="0">
              <a:buNone/>
            </a:pPr>
            <a:r>
              <a:rPr lang="en-US" sz="3200" dirty="0"/>
              <a:t>• Data is recorded on the Ethereum Virtual Machine (Remix VM).</a:t>
            </a:r>
          </a:p>
          <a:p>
            <a:pPr marL="0" indent="0">
              <a:buNone/>
            </a:pPr>
            <a:r>
              <a:rPr lang="en-US" sz="3200" dirty="0"/>
              <a:t>• Users interact with the contract through Remix interface.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Flow:</a:t>
            </a:r>
          </a:p>
          <a:p>
            <a:pPr marL="0" indent="0">
              <a:buNone/>
            </a:pPr>
            <a:r>
              <a:rPr lang="en-US" sz="3200" dirty="0"/>
              <a:t>User → Smart Contract → Blockchain Storage → Retrieval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1769-E3B3-14EE-3855-15476B65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7F59-5719-A81B-6E76-27AC25DB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2" y="-345512"/>
            <a:ext cx="10515600" cy="1325563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AAC2-02DA-EA60-ABD9-59CBE0BCC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980051"/>
            <a:ext cx="11562734" cy="5538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Smart Contract Design</a:t>
            </a:r>
          </a:p>
          <a:p>
            <a:pPr marL="0" indent="0">
              <a:buNone/>
            </a:pPr>
            <a:r>
              <a:rPr lang="en-US" sz="1600" dirty="0"/>
              <a:t>The smart contract consists of:</a:t>
            </a:r>
          </a:p>
          <a:p>
            <a:pPr marL="0" indent="0">
              <a:buNone/>
            </a:pPr>
            <a:r>
              <a:rPr lang="en-US" sz="1600" dirty="0"/>
              <a:t>1. Student Structure</a:t>
            </a:r>
          </a:p>
          <a:p>
            <a:pPr marL="0" indent="0">
              <a:buNone/>
            </a:pPr>
            <a:r>
              <a:rPr lang="en-US" sz="1600" dirty="0"/>
              <a:t>     • Roll Number</a:t>
            </a:r>
          </a:p>
          <a:p>
            <a:pPr marL="0" indent="0">
              <a:buNone/>
            </a:pPr>
            <a:r>
              <a:rPr lang="en-US" sz="1600" dirty="0"/>
              <a:t>     • Name</a:t>
            </a:r>
          </a:p>
          <a:p>
            <a:pPr marL="0" indent="0">
              <a:buNone/>
            </a:pPr>
            <a:r>
              <a:rPr lang="en-US" sz="1600" dirty="0"/>
              <a:t>2. Attendance Record Structure</a:t>
            </a:r>
          </a:p>
          <a:p>
            <a:pPr marL="0" indent="0">
              <a:buNone/>
            </a:pPr>
            <a:r>
              <a:rPr lang="en-US" sz="1600" dirty="0"/>
              <a:t>     • Roll Number</a:t>
            </a:r>
          </a:p>
          <a:p>
            <a:pPr marL="0" indent="0">
              <a:buNone/>
            </a:pPr>
            <a:r>
              <a:rPr lang="en-US" sz="1600" dirty="0"/>
              <a:t>     • Subject</a:t>
            </a:r>
          </a:p>
          <a:p>
            <a:pPr marL="0" indent="0">
              <a:buNone/>
            </a:pPr>
            <a:r>
              <a:rPr lang="en-US" sz="1600" dirty="0"/>
              <a:t>     • Present/Absent Status</a:t>
            </a:r>
          </a:p>
          <a:p>
            <a:pPr marL="0" indent="0">
              <a:buNone/>
            </a:pPr>
            <a:r>
              <a:rPr lang="en-US" sz="1600" dirty="0"/>
              <a:t>Main Functions Implemented: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addStudent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markAttendance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getRecord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r>
              <a:rPr lang="en-US" sz="1600" dirty="0"/>
              <a:t>• </a:t>
            </a:r>
            <a:r>
              <a:rPr lang="en-US" sz="1600" dirty="0" err="1"/>
              <a:t>totalRecords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This ensures secure and immutable storage of attendance records.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94797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1220-95C7-F44F-19DD-039FEC4F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BED3-D01D-AE40-016F-3BBF59CC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2" y="-345512"/>
            <a:ext cx="10515600" cy="1325563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8F43A-4F3B-B597-FC19-E21F7278D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2" y="832567"/>
            <a:ext cx="11562734" cy="5538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Performance Analytics Extension (PBL-2 Enhancement)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In PBL-2, the system is extended to include analytical capabilities:</a:t>
            </a:r>
          </a:p>
          <a:p>
            <a:pPr marL="0" indent="0">
              <a:buNone/>
            </a:pPr>
            <a:r>
              <a:rPr lang="en-US" sz="3200" dirty="0"/>
              <a:t>• Count total attendance records per student</a:t>
            </a:r>
          </a:p>
          <a:p>
            <a:pPr marL="0" indent="0">
              <a:buNone/>
            </a:pPr>
            <a:r>
              <a:rPr lang="en-US" sz="3200" dirty="0"/>
              <a:t>• Track subject-wise attendance</a:t>
            </a:r>
          </a:p>
          <a:p>
            <a:pPr marL="0" indent="0">
              <a:buNone/>
            </a:pPr>
            <a:r>
              <a:rPr lang="en-US" sz="3200" dirty="0"/>
              <a:t>• Calculate attendance percentage (conceptual logic)</a:t>
            </a:r>
          </a:p>
          <a:p>
            <a:pPr marL="0" indent="0">
              <a:buNone/>
            </a:pPr>
            <a:r>
              <a:rPr lang="en-US" sz="3200" dirty="0"/>
              <a:t>• Identify low attendance scenarios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This transforms the system from simple storage to a performance evaluation tool.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33204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5E0B2-26D7-2D35-18EB-EFF82901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45C4-E44A-AF12-B207-B1B8CD9B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2" y="-345512"/>
            <a:ext cx="10515600" cy="1325563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6D3B3-C8FB-6E7B-EFDD-1F4CAE4F2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2" y="659632"/>
            <a:ext cx="11562734" cy="5538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Deployment and Testing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Implementation Steps:</a:t>
            </a:r>
          </a:p>
          <a:p>
            <a:pPr marL="0" indent="0">
              <a:buNone/>
            </a:pPr>
            <a:r>
              <a:rPr lang="en-US" sz="2400" dirty="0"/>
              <a:t>1. Smart contract written in Solidity.</a:t>
            </a:r>
          </a:p>
          <a:p>
            <a:pPr marL="0" indent="0">
              <a:buNone/>
            </a:pPr>
            <a:r>
              <a:rPr lang="en-US" sz="2400" dirty="0"/>
              <a:t>2. Compiled using Remix IDE.</a:t>
            </a:r>
          </a:p>
          <a:p>
            <a:pPr marL="0" indent="0">
              <a:buNone/>
            </a:pPr>
            <a:r>
              <a:rPr lang="en-US" sz="2400" dirty="0"/>
              <a:t>3. Deployed on Ethereum Virtual Machine (London version).</a:t>
            </a:r>
          </a:p>
          <a:p>
            <a:pPr marL="0" indent="0">
              <a:buNone/>
            </a:pPr>
            <a:r>
              <a:rPr lang="en-US" sz="2400" dirty="0"/>
              <a:t>4. Tested using structured dataset:</a:t>
            </a:r>
          </a:p>
          <a:p>
            <a:pPr marL="0" indent="0">
              <a:buNone/>
            </a:pPr>
            <a:r>
              <a:rPr lang="en-US" sz="2400" dirty="0"/>
              <a:t>        • 5 Students</a:t>
            </a:r>
          </a:p>
          <a:p>
            <a:pPr marL="0" indent="0">
              <a:buNone/>
            </a:pPr>
            <a:r>
              <a:rPr lang="en-US" sz="2400" dirty="0"/>
              <a:t>        • 6 Attendance Entries</a:t>
            </a:r>
          </a:p>
          <a:p>
            <a:pPr marL="0" indent="0">
              <a:buNone/>
            </a:pPr>
            <a:r>
              <a:rPr lang="en-US" sz="2400" dirty="0"/>
              <a:t>        • Multiple subjects</a:t>
            </a:r>
          </a:p>
          <a:p>
            <a:pPr marL="0" indent="0">
              <a:buNone/>
            </a:pPr>
            <a:r>
              <a:rPr lang="en-US" sz="2400" dirty="0"/>
              <a:t>5. Validated retrieval and total record counting.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system demonstrates secure, tamper-proof attendance recording and analytical processing.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022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-149526"/>
            <a:ext cx="10515600" cy="1325563"/>
          </a:xfrm>
        </p:spPr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B988EF-DCCF-0618-4EF7-34A61E417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093119"/>
              </p:ext>
            </p:extLst>
          </p:nvPr>
        </p:nvGraphicFramePr>
        <p:xfrm>
          <a:off x="376084" y="1690689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981160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73358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203381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59814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Roll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Attendance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67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31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292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806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45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Sneha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Chemistry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299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Vikram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73245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D34842-81D9-97AE-0259-D501DCD8162B}"/>
                  </a:ext>
                </a:extLst>
              </p14:cNvPr>
              <p14:cNvContentPartPr/>
              <p14:nvPr/>
            </p14:nvContentPartPr>
            <p14:xfrm>
              <a:off x="-177190" y="678468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D34842-81D9-97AE-0259-D501DCD816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86190" y="6694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7F7D92-7C92-14E1-8565-6D88EA6AE072}"/>
                  </a:ext>
                </a:extLst>
              </p14:cNvPr>
              <p14:cNvContentPartPr/>
              <p14:nvPr/>
            </p14:nvContentPartPr>
            <p14:xfrm>
              <a:off x="-1022830" y="1081668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7F7D92-7C92-14E1-8565-6D88EA6AE0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31470" y="107266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CDC02F9-25D9-48C0-0ABE-1D958E78BAE0}"/>
              </a:ext>
            </a:extLst>
          </p:cNvPr>
          <p:cNvSpPr txBox="1"/>
          <p:nvPr/>
        </p:nvSpPr>
        <p:spPr>
          <a:xfrm>
            <a:off x="306031" y="1103116"/>
            <a:ext cx="11166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Attendance Dataset (Execution Results)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2D5EF-7040-99CC-93EF-4000A2F25FBA}"/>
              </a:ext>
            </a:extLst>
          </p:cNvPr>
          <p:cNvSpPr txBox="1"/>
          <p:nvPr/>
        </p:nvSpPr>
        <p:spPr>
          <a:xfrm>
            <a:off x="306031" y="4714567"/>
            <a:ext cx="53966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Total Students: 5</a:t>
            </a:r>
          </a:p>
          <a:p>
            <a:r>
              <a:rPr lang="en-US" dirty="0"/>
              <a:t>• Total Attendance Records: 6</a:t>
            </a:r>
          </a:p>
          <a:p>
            <a:r>
              <a:rPr lang="en-US" dirty="0"/>
              <a:t>• Present: 4</a:t>
            </a:r>
          </a:p>
          <a:p>
            <a:r>
              <a:rPr lang="en-US" dirty="0"/>
              <a:t>• Absent: 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E5CA-B6E2-0B33-0BBF-B44C5E23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ECDF-8D6A-9118-4B41-56CF8B2F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-149526"/>
            <a:ext cx="10515600" cy="1325563"/>
          </a:xfrm>
        </p:spPr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DDBC3A-7FEC-27AB-7627-06AB5F0D1A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263806"/>
              </p:ext>
            </p:extLst>
          </p:nvPr>
        </p:nvGraphicFramePr>
        <p:xfrm>
          <a:off x="306031" y="1386424"/>
          <a:ext cx="10515600" cy="2560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0981160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957397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873358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203381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59814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67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Roll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Attendance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31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292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806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45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Sneha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299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Vikram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73245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6AA45E-3D99-E571-495F-8DCA639E1728}"/>
                  </a:ext>
                </a:extLst>
              </p14:cNvPr>
              <p14:cNvContentPartPr/>
              <p14:nvPr/>
            </p14:nvContentPartPr>
            <p14:xfrm>
              <a:off x="-177190" y="678468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6AA45E-3D99-E571-495F-8DCA639E17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86190" y="6694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A38B339-238A-ED8B-AB53-4DC4F93C9931}"/>
                  </a:ext>
                </a:extLst>
              </p14:cNvPr>
              <p14:cNvContentPartPr/>
              <p14:nvPr/>
            </p14:nvContentPartPr>
            <p14:xfrm>
              <a:off x="-1022830" y="1081668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A38B339-238A-ED8B-AB53-4DC4F93C99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31830" y="107266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D622400-7269-24A6-1DFD-59CB995F907D}"/>
              </a:ext>
            </a:extLst>
          </p:cNvPr>
          <p:cNvSpPr txBox="1"/>
          <p:nvPr/>
        </p:nvSpPr>
        <p:spPr>
          <a:xfrm>
            <a:off x="376084" y="1073863"/>
            <a:ext cx="11166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Summary (PBL-2 Extension)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7696D-B5DA-9324-4840-B996737EF0E6}"/>
              </a:ext>
            </a:extLst>
          </p:cNvPr>
          <p:cNvSpPr txBox="1"/>
          <p:nvPr/>
        </p:nvSpPr>
        <p:spPr>
          <a:xfrm>
            <a:off x="306031" y="4567084"/>
            <a:ext cx="5396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analytical computation demonstrates performance evaluation capability added in PBL-2.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094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68" y="-229548"/>
            <a:ext cx="10515600" cy="1325563"/>
          </a:xfrm>
        </p:spPr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868" y="1096015"/>
            <a:ext cx="11678264" cy="55014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Current Status: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Smart contract deployed</a:t>
            </a:r>
          </a:p>
          <a:p>
            <a:pPr marL="0" indent="0">
              <a:buNone/>
            </a:pPr>
            <a:r>
              <a:rPr lang="en-US" dirty="0"/>
              <a:t>✔ Attendance records stored</a:t>
            </a:r>
          </a:p>
          <a:p>
            <a:pPr marL="0" indent="0">
              <a:buNone/>
            </a:pPr>
            <a:r>
              <a:rPr lang="en-US" dirty="0"/>
              <a:t>✔ Structured dataset validated</a:t>
            </a:r>
          </a:p>
          <a:p>
            <a:pPr marL="0" indent="0">
              <a:buNone/>
            </a:pPr>
            <a:r>
              <a:rPr lang="en-US" dirty="0"/>
              <a:t>✔ Analytical extension designed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Future Work (End-Term Plan):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Automated percentage calculation</a:t>
            </a:r>
          </a:p>
          <a:p>
            <a:pPr marL="0" indent="0">
              <a:buNone/>
            </a:pPr>
            <a:r>
              <a:rPr lang="en-US" dirty="0"/>
              <a:t>• Threshold-based low attendance alert</a:t>
            </a:r>
          </a:p>
          <a:p>
            <a:pPr marL="0" indent="0">
              <a:buNone/>
            </a:pPr>
            <a:r>
              <a:rPr lang="en-US" dirty="0"/>
              <a:t>• Basic web interface integration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05156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325563"/>
            <a:ext cx="11314471" cy="5291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• Ethereum Documentation</a:t>
            </a:r>
          </a:p>
          <a:p>
            <a:pPr marL="0" indent="0">
              <a:buNone/>
            </a:pPr>
            <a:r>
              <a:rPr lang="en-IN" sz="2400" dirty="0"/>
              <a:t>• Solidity Official Documentation</a:t>
            </a:r>
          </a:p>
          <a:p>
            <a:pPr marL="0" indent="0">
              <a:buNone/>
            </a:pPr>
            <a:r>
              <a:rPr lang="en-IN" sz="2400" dirty="0"/>
              <a:t>• Research papers on Blockchain in Education</a:t>
            </a:r>
          </a:p>
          <a:p>
            <a:pPr marL="0" indent="0">
              <a:buNone/>
            </a:pPr>
            <a:r>
              <a:rPr lang="en-IN" sz="2400" dirty="0"/>
              <a:t>• Remix IDE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993" y="2103437"/>
            <a:ext cx="5985388" cy="2380073"/>
          </a:xfrm>
        </p:spPr>
        <p:txBody>
          <a:bodyPr/>
          <a:lstStyle/>
          <a:p>
            <a:r>
              <a:rPr lang="en-IN" dirty="0"/>
              <a:t>    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738</Words>
  <Application>Microsoft Office PowerPoint</Application>
  <PresentationFormat>Widescreen</PresentationFormat>
  <Paragraphs>201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Comic Mono</vt:lpstr>
      <vt:lpstr>Wingdings</vt:lpstr>
      <vt:lpstr>Office Theme</vt:lpstr>
      <vt:lpstr>Blockchain-Based Attendance Management System with Performance Analytics</vt:lpstr>
      <vt:lpstr>Outline</vt:lpstr>
      <vt:lpstr>Introduction</vt:lpstr>
      <vt:lpstr>Introduction</vt:lpstr>
      <vt:lpstr>Literature Review</vt:lpstr>
      <vt:lpstr>Literature Review</vt:lpstr>
      <vt:lpstr>Problem Statement</vt:lpstr>
      <vt:lpstr>Objectives</vt:lpstr>
      <vt:lpstr>Proposed Methodology</vt:lpstr>
      <vt:lpstr>Proposed Methodology</vt:lpstr>
      <vt:lpstr>Proposed Methodology</vt:lpstr>
      <vt:lpstr>Proposed Methodology</vt:lpstr>
      <vt:lpstr>Result </vt:lpstr>
      <vt:lpstr>Result </vt:lpstr>
      <vt:lpstr>Outcome </vt:lpstr>
      <vt:lpstr>References</vt:lpstr>
      <vt:lpstr>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Bishwadeep Mukherjee</cp:lastModifiedBy>
  <cp:revision>9</cp:revision>
  <dcterms:created xsi:type="dcterms:W3CDTF">2025-09-29T05:03:41Z</dcterms:created>
  <dcterms:modified xsi:type="dcterms:W3CDTF">2026-02-16T06:37:55Z</dcterms:modified>
</cp:coreProperties>
</file>